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2"/>
  </p:notesMasterIdLst>
  <p:handoutMasterIdLst>
    <p:handoutMasterId r:id="rId13"/>
  </p:handoutMasterIdLst>
  <p:sldIdLst>
    <p:sldId id="278" r:id="rId5"/>
    <p:sldId id="271" r:id="rId6"/>
    <p:sldId id="295" r:id="rId7"/>
    <p:sldId id="284" r:id="rId8"/>
    <p:sldId id="293" r:id="rId9"/>
    <p:sldId id="294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57506" autoAdjust="0"/>
  </p:normalViewPr>
  <p:slideViewPr>
    <p:cSldViewPr snapToGrid="0">
      <p:cViewPr varScale="1">
        <p:scale>
          <a:sx n="74" d="100"/>
          <a:sy n="74" d="100"/>
        </p:scale>
        <p:origin x="158" y="28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9:48:31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9:48:11.8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2,'21'0,"0"1,0 1,0 1,-1 1,1 1,-1 0,28 12,-27-6,-9-5,1 0,-1 0,19 4,3-2,1-1,0-2,1-1,51-1,12-2,82-4,-163 0,1-1,-1 0,32-13,-9 3,22-11,-50 18,1 2,0-1,0 2,1 0,16-2,-2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19:48:18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0,'1016'0'0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9:48:31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9:59:09.09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2,'9'1,"-1"1,1 0,0 0,-1 1,1 0,-1 1,0-1,0 2,0-1,8 8,41 18,-34-22,0-1,1-2,0 0,0-1,0-2,0 0,32-3,-4-3,0-2,0-3,85-24,-86 18,1 3,0 2,88-6,-124 17,0 0,0 0,0 1,0 1,16 6,-15-5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9:59:10.77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31,'4'0,"2"-5,-4 0,-4-5,0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my project - National Values and Happiness: A Regression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Introduction: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Jeanne Spaulding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Recently moved to Cincinnati, OH from Northern KY region</a:t>
            </a:r>
          </a:p>
          <a:p>
            <a:pPr marL="800100" marR="0" lvl="1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Currently Data Management Specialist @ Cincinnati Children’s Hospital pursuing transition into a more analytical role within data science</a:t>
            </a:r>
          </a:p>
          <a:p>
            <a:pPr marL="800100" marR="0" lvl="1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Master’s degree in Integrative Studies focused on research methodologies and statistics</a:t>
            </a:r>
          </a:p>
          <a:p>
            <a:pPr marL="800100" marR="0" lvl="1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Through my education and work experiences, adept in the data lifecycle and deriving insights from complex datasets within academic and clinical research</a:t>
            </a:r>
            <a:endParaRPr lang="en-US" sz="1800" dirty="0"/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Missing key programming piece in 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 skillset central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data science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buFont typeface="Symbol" panose="05050102010706020507" pitchFamily="18" charset="2"/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Enter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Code:You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 I chose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Code:You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for…</a:t>
            </a: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Extensive resources provided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Learning support from experienced Mentors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Hands-on coding experience from projects and interactives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6DCD-B46A-F73F-978F-0E3C8F5E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53435-73CF-DA67-F2FF-61ECC2336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90573-2E7C-84B7-B21A-277594604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>
              <a:lnSpc>
                <a:spcPct val="115000"/>
              </a:lnSpc>
              <a:buFont typeface="Courier New" panose="02070309020205020404" pitchFamily="49" charset="0"/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 Analysis: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 minor domain items removed; 2 domain items remain – Overall National Values &amp; Independence Values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Nearly 59% of the change in happiness score explained by these national values domain items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Independence values significant for a relationship with happiness score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relationship; when Independence values score goes up – happiness score will go up</a:t>
            </a:r>
          </a:p>
          <a:p>
            <a:pPr marL="914400" marR="0" lvl="2" indent="0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1" indent="0">
              <a:lnSpc>
                <a:spcPct val="115000"/>
              </a:lnSpc>
              <a:buFont typeface="Courier New" panose="02070309020205020404" pitchFamily="49" charset="0"/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Sample size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WVS covers ~100 countries the course of several years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WHR surveys ~140 per year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Analyzed single year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400" kern="10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All but 1 of the WVS countries joined, but still resulted in small sample size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endParaRPr lang="en-US" sz="14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1" indent="0">
              <a:lnSpc>
                <a:spcPct val="115000"/>
              </a:lnSpc>
              <a:buFont typeface="Courier New" panose="02070309020205020404" pitchFamily="49" charset="0"/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Recommendations for Further Analyses:</a:t>
            </a:r>
          </a:p>
          <a:p>
            <a:pPr marL="1085850" marR="0" lvl="2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Replicate analyses with larger sample size, possibly utilizing multiple years</a:t>
            </a:r>
          </a:p>
          <a:p>
            <a:pPr marL="1085850" marR="0" lvl="2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Explore individual minor domains affect on happiness score</a:t>
            </a:r>
          </a:p>
          <a:p>
            <a:pPr marL="1085850" marR="0" lvl="2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lvl="2" indent="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None/>
            </a:pPr>
            <a:endParaRPr lang="en-US" sz="14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E0F6D-A986-D20D-5714-23A2716A6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162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lnSpc>
                <a:spcPct val="115000"/>
              </a:lnSpc>
              <a:buFont typeface="Symbol" panose="05050102010706020507" pitchFamily="18" charset="2"/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Challenges: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scatterplot (surprisingly) </a:t>
            </a:r>
          </a:p>
          <a:p>
            <a:pPr marL="1200150" marR="0" lvl="2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Convoluted and messy, clarity better than complexity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00150" marR="0" lvl="2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built function to easily create </a:t>
            </a:r>
            <a:r>
              <a:rPr lang="en-US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individual scatterplots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sample size on analyses limiting application of findings</a:t>
            </a:r>
          </a:p>
          <a:p>
            <a:pPr marL="457200" marR="0" lvl="1" indent="0">
              <a:lnSpc>
                <a:spcPct val="115000"/>
              </a:lnSpc>
              <a:buFont typeface="Courier New" panose="02070309020205020404" pitchFamily="49" charset="0"/>
              <a:buNone/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buFont typeface="Symbol" panose="05050102010706020507" pitchFamily="18" charset="2"/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 learned about myself: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Imposter syndrome is real!!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Confidence in coding increased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Grown as a data professional in knowledge and capabilities</a:t>
            </a: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None/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58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feel free to reach out.  I invite you to:</a:t>
            </a:r>
          </a:p>
          <a:p>
            <a:pPr marL="285750" marR="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Call, text, email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 on LinkedIn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Follow me on GitHub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57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9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9" r:id="rId13"/>
    <p:sldLayoutId id="2147483721" r:id="rId14"/>
    <p:sldLayoutId id="2147483728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2.png"/><Relationship Id="rId3" Type="http://schemas.openxmlformats.org/officeDocument/2006/relationships/customXml" Target="../ink/ink2.xml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9" Type="http://schemas.openxmlformats.org/officeDocument/2006/relationships/image" Target="../media/image8.png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spauldingj2@outlook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jpg"/><Relationship Id="rId5" Type="http://schemas.openxmlformats.org/officeDocument/2006/relationships/hyperlink" Target="https://github.com/spauldingj2/NationalValues_Happiness" TargetMode="External"/><Relationship Id="rId4" Type="http://schemas.openxmlformats.org/officeDocument/2006/relationships/hyperlink" Target="https://www.linkedin.com/in/jeanne-r-spaulding-ma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pPr algn="ctr"/>
            <a:r>
              <a:rPr lang="en-US" dirty="0"/>
              <a:t>National Values 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Happiness: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A Regression Analysis</a:t>
            </a: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72"/>
    </mc:Choice>
    <mc:Fallback xmlns="">
      <p:transition spd="slow" advTm="64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556625-0CA6-F5C8-970A-CF3314D3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757" y="628650"/>
            <a:ext cx="5437187" cy="530174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Brief Introduction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Code:You?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National Values and Happiness Project Overview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 Thoughts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7560B9-86B8-4558-93E9-FAB8DBE4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6122" y="7174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1400469-1077-4353-BFB5-E4159ADF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1524143" y="5425719"/>
            <a:ext cx="826527" cy="463493"/>
          </a:xfrm>
          <a:custGeom>
            <a:avLst/>
            <a:gdLst>
              <a:gd name="connsiteX0" fmla="*/ 791231 w 826527"/>
              <a:gd name="connsiteY0" fmla="*/ 135754 h 463493"/>
              <a:gd name="connsiteX1" fmla="*/ 826527 w 826527"/>
              <a:gd name="connsiteY1" fmla="*/ 178533 h 463493"/>
              <a:gd name="connsiteX2" fmla="*/ 658803 w 826527"/>
              <a:gd name="connsiteY2" fmla="*/ 346257 h 463493"/>
              <a:gd name="connsiteX3" fmla="*/ 627362 w 826527"/>
              <a:gd name="connsiteY3" fmla="*/ 299623 h 463493"/>
              <a:gd name="connsiteX4" fmla="*/ 463493 w 826527"/>
              <a:gd name="connsiteY4" fmla="*/ 231747 h 463493"/>
              <a:gd name="connsiteX5" fmla="*/ 231747 w 826527"/>
              <a:gd name="connsiteY5" fmla="*/ 463493 h 463493"/>
              <a:gd name="connsiteX6" fmla="*/ 0 w 826527"/>
              <a:gd name="connsiteY6" fmla="*/ 463493 h 463493"/>
              <a:gd name="connsiteX7" fmla="*/ 463492 w 826527"/>
              <a:gd name="connsiteY7" fmla="*/ 0 h 463493"/>
              <a:gd name="connsiteX8" fmla="*/ 791231 w 826527"/>
              <a:gd name="connsiteY8" fmla="*/ 135754 h 46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527" h="463493">
                <a:moveTo>
                  <a:pt x="791231" y="135754"/>
                </a:moveTo>
                <a:lnTo>
                  <a:pt x="826527" y="178533"/>
                </a:lnTo>
                <a:lnTo>
                  <a:pt x="658803" y="346257"/>
                </a:lnTo>
                <a:lnTo>
                  <a:pt x="627362" y="299623"/>
                </a:lnTo>
                <a:cubicBezTo>
                  <a:pt x="585424" y="257686"/>
                  <a:pt x="527487" y="231747"/>
                  <a:pt x="463493" y="231747"/>
                </a:cubicBezTo>
                <a:cubicBezTo>
                  <a:pt x="335503" y="231746"/>
                  <a:pt x="231746" y="335503"/>
                  <a:pt x="231747" y="463493"/>
                </a:cubicBezTo>
                <a:lnTo>
                  <a:pt x="0" y="463493"/>
                </a:lnTo>
                <a:cubicBezTo>
                  <a:pt x="0" y="207513"/>
                  <a:pt x="207513" y="0"/>
                  <a:pt x="463492" y="0"/>
                </a:cubicBezTo>
                <a:cubicBezTo>
                  <a:pt x="591482" y="0"/>
                  <a:pt x="707356" y="51879"/>
                  <a:pt x="791231" y="1357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127000" dir="270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28851F7-6B20-43F1-90FF-B41CE11AF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1562489" y="5445666"/>
            <a:ext cx="807174" cy="508309"/>
          </a:xfrm>
          <a:custGeom>
            <a:avLst/>
            <a:gdLst>
              <a:gd name="connsiteX0" fmla="*/ 791232 w 807174"/>
              <a:gd name="connsiteY0" fmla="*/ 148880 h 508309"/>
              <a:gd name="connsiteX1" fmla="*/ 807174 w 807174"/>
              <a:gd name="connsiteY1" fmla="*/ 170072 h 508309"/>
              <a:gd name="connsiteX2" fmla="*/ 636502 w 807174"/>
              <a:gd name="connsiteY2" fmla="*/ 340744 h 508309"/>
              <a:gd name="connsiteX3" fmla="*/ 627362 w 807174"/>
              <a:gd name="connsiteY3" fmla="*/ 328595 h 508309"/>
              <a:gd name="connsiteX4" fmla="*/ 463493 w 807174"/>
              <a:gd name="connsiteY4" fmla="*/ 254155 h 508309"/>
              <a:gd name="connsiteX5" fmla="*/ 231747 w 807174"/>
              <a:gd name="connsiteY5" fmla="*/ 508309 h 508309"/>
              <a:gd name="connsiteX6" fmla="*/ 0 w 807174"/>
              <a:gd name="connsiteY6" fmla="*/ 508309 h 508309"/>
              <a:gd name="connsiteX7" fmla="*/ 463493 w 807174"/>
              <a:gd name="connsiteY7" fmla="*/ 0 h 508309"/>
              <a:gd name="connsiteX8" fmla="*/ 791232 w 807174"/>
              <a:gd name="connsiteY8" fmla="*/ 148880 h 50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174" h="508309">
                <a:moveTo>
                  <a:pt x="791232" y="148880"/>
                </a:moveTo>
                <a:lnTo>
                  <a:pt x="807174" y="170072"/>
                </a:lnTo>
                <a:lnTo>
                  <a:pt x="636502" y="340744"/>
                </a:lnTo>
                <a:lnTo>
                  <a:pt x="627362" y="328595"/>
                </a:lnTo>
                <a:cubicBezTo>
                  <a:pt x="585425" y="282602"/>
                  <a:pt x="527487" y="254155"/>
                  <a:pt x="463493" y="254155"/>
                </a:cubicBezTo>
                <a:cubicBezTo>
                  <a:pt x="335503" y="254155"/>
                  <a:pt x="231746" y="367943"/>
                  <a:pt x="231747" y="508309"/>
                </a:cubicBezTo>
                <a:lnTo>
                  <a:pt x="0" y="508309"/>
                </a:lnTo>
                <a:cubicBezTo>
                  <a:pt x="0" y="227578"/>
                  <a:pt x="207513" y="0"/>
                  <a:pt x="463493" y="0"/>
                </a:cubicBezTo>
                <a:cubicBezTo>
                  <a:pt x="591482" y="-1"/>
                  <a:pt x="707356" y="56895"/>
                  <a:pt x="791232" y="14888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>
            <a:noFill/>
          </a:ln>
          <a:effectLst>
            <a:softEdge rad="88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Placeholder 8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CDE1FE81-DF38-749E-FAC5-B9802123EC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" r="11095" b="-1"/>
          <a:stretch/>
        </p:blipFill>
        <p:spPr>
          <a:xfrm>
            <a:off x="6546614" y="693086"/>
            <a:ext cx="5244242" cy="5309157"/>
          </a:xfrm>
          <a:custGeom>
            <a:avLst/>
            <a:gdLst/>
            <a:ahLst/>
            <a:cxnLst/>
            <a:rect l="l" t="t" r="r" b="b"/>
            <a:pathLst>
              <a:path w="4868976" h="5644408">
                <a:moveTo>
                  <a:pt x="2398421" y="0"/>
                </a:moveTo>
                <a:lnTo>
                  <a:pt x="4868973" y="1424628"/>
                </a:lnTo>
                <a:lnTo>
                  <a:pt x="4868976" y="1424625"/>
                </a:lnTo>
                <a:lnTo>
                  <a:pt x="4868976" y="1424628"/>
                </a:lnTo>
                <a:lnTo>
                  <a:pt x="4868976" y="4219781"/>
                </a:lnTo>
                <a:lnTo>
                  <a:pt x="2398419" y="5644408"/>
                </a:lnTo>
                <a:lnTo>
                  <a:pt x="0" y="4219781"/>
                </a:lnTo>
                <a:lnTo>
                  <a:pt x="0" y="1424628"/>
                </a:lnTo>
                <a:lnTo>
                  <a:pt x="0" y="1424625"/>
                </a:lnTo>
                <a:lnTo>
                  <a:pt x="3" y="1424628"/>
                </a:lnTo>
                <a:close/>
              </a:path>
            </a:pathLst>
          </a:cu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09E6BACC-8290-425B-A517-1914E16D8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65497" y="5915162"/>
            <a:ext cx="53549" cy="233295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08"/>
    </mc:Choice>
    <mc:Fallback xmlns="">
      <p:transition spd="slow" advTm="447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F4C3-2052-77C3-CFD2-963B1B39AE4B}"/>
              </a:ext>
            </a:extLst>
          </p:cNvPr>
          <p:cNvSpPr txBox="1">
            <a:spLocks/>
          </p:cNvSpPr>
          <p:nvPr/>
        </p:nvSpPr>
        <p:spPr>
          <a:xfrm>
            <a:off x="550863" y="549275"/>
            <a:ext cx="11359966" cy="97777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>
                <a:latin typeface="+mn-lt"/>
              </a:rPr>
              <a:t>World Values Survey </a:t>
            </a:r>
            <a:r>
              <a:rPr lang="en-US" sz="2800">
                <a:latin typeface="+mn-lt"/>
              </a:rPr>
              <a:t>(www.worldvaluessurvey.org)</a:t>
            </a:r>
            <a:br>
              <a:rPr lang="en-US" sz="2800">
                <a:latin typeface="+mn-lt"/>
              </a:rPr>
            </a:br>
            <a:r>
              <a:rPr lang="en-US" sz="3600">
                <a:latin typeface="+mn-lt"/>
              </a:rPr>
              <a:t>World Happiness Report </a:t>
            </a:r>
            <a:r>
              <a:rPr lang="en-US" sz="2800">
                <a:latin typeface="+mn-lt"/>
              </a:rPr>
              <a:t>(www.worldhappiness.report)</a:t>
            </a:r>
            <a:endParaRPr lang="en-US" sz="360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 txBox="1">
            <a:spLocks/>
          </p:cNvSpPr>
          <p:nvPr/>
        </p:nvSpPr>
        <p:spPr>
          <a:xfrm>
            <a:off x="550863" y="2399142"/>
            <a:ext cx="7443752" cy="2848566"/>
          </a:xfrm>
          <a:prstGeom prst="rect">
            <a:avLst/>
          </a:prstGeom>
        </p:spPr>
        <p:txBody>
          <a:bodyPr vert="horz" wrap="square" lIns="0" tIns="0" rIns="0" bIns="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8000" dirty="0"/>
              <a:t>WVS: Societal beliefs, values, and cultural norms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0" dirty="0"/>
              <a:t>WHR: Happiness score by country </a:t>
            </a:r>
          </a:p>
          <a:p>
            <a:pPr marL="0" indent="0">
              <a:spcBef>
                <a:spcPts val="0"/>
              </a:spcBef>
              <a:buNone/>
            </a:pPr>
            <a:endParaRPr lang="en-US" sz="8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8000" dirty="0"/>
              <a:t>Multiple Linear Regression</a:t>
            </a:r>
          </a:p>
          <a:p>
            <a:pPr marL="0" indent="0" defTabSz="457200">
              <a:spcBef>
                <a:spcPts val="0"/>
              </a:spcBef>
              <a:buNone/>
            </a:pPr>
            <a:r>
              <a:rPr lang="en-US" sz="8000" dirty="0"/>
              <a:t>	- Find patterns among the values</a:t>
            </a:r>
          </a:p>
          <a:p>
            <a:pPr marL="0" indent="0" defTabSz="457200">
              <a:spcBef>
                <a:spcPts val="0"/>
              </a:spcBef>
              <a:buNone/>
            </a:pPr>
            <a:r>
              <a:rPr lang="en-US" sz="8000" dirty="0"/>
              <a:t>	- Determine any potential relationships	</a:t>
            </a: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200" dirty="0"/>
          </a:p>
          <a:p>
            <a:pPr marL="342900" indent="-342900"/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FAAE7-472E-1160-ABCA-E4C83245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61" y="3823425"/>
            <a:ext cx="5152068" cy="273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6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DE6BB18-C365-4A37-6A64-D2B0C72351A6}"/>
              </a:ext>
            </a:extLst>
          </p:cNvPr>
          <p:cNvSpPr txBox="1"/>
          <p:nvPr/>
        </p:nvSpPr>
        <p:spPr>
          <a:xfrm>
            <a:off x="1228897" y="501786"/>
            <a:ext cx="12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 #1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EC0FF6-5139-EC4E-AC5A-A20A8128BC73}"/>
                  </a:ext>
                </a:extLst>
              </p14:cNvPr>
              <p14:cNvContentPartPr/>
              <p14:nvPr/>
            </p14:nvContentPartPr>
            <p14:xfrm>
              <a:off x="-886896" y="978264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EC0FF6-5139-EC4E-AC5A-A20A8128BC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940896" y="870264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4A0C506-E8A9-798A-9D28-830D72768EBC}"/>
              </a:ext>
            </a:extLst>
          </p:cNvPr>
          <p:cNvSpPr txBox="1"/>
          <p:nvPr/>
        </p:nvSpPr>
        <p:spPr>
          <a:xfrm>
            <a:off x="5459730" y="501786"/>
            <a:ext cx="12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 #2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00F90-3B3C-C461-9F56-F90134769667}"/>
              </a:ext>
            </a:extLst>
          </p:cNvPr>
          <p:cNvSpPr txBox="1"/>
          <p:nvPr/>
        </p:nvSpPr>
        <p:spPr>
          <a:xfrm>
            <a:off x="10056533" y="544002"/>
            <a:ext cx="12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 #3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C04F2-9DCC-0443-48B8-B17515DE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F080173-D875-BDC3-5D17-D91B69C7D555}"/>
              </a:ext>
            </a:extLst>
          </p:cNvPr>
          <p:cNvSpPr txBox="1"/>
          <p:nvPr/>
        </p:nvSpPr>
        <p:spPr>
          <a:xfrm>
            <a:off x="2512737" y="129134"/>
            <a:ext cx="130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 #2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B302748-E6CF-8C27-AA32-FFF5C4EFB63D}"/>
                  </a:ext>
                </a:extLst>
              </p14:cNvPr>
              <p14:cNvContentPartPr/>
              <p14:nvPr/>
            </p14:nvContentPartPr>
            <p14:xfrm>
              <a:off x="5312304" y="1754784"/>
              <a:ext cx="406440" cy="38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B302748-E6CF-8C27-AA32-FFF5C4EFB6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8304" y="1646784"/>
                <a:ext cx="5140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329722A-A54C-7760-B3AC-565C688473FE}"/>
                  </a:ext>
                </a:extLst>
              </p14:cNvPr>
              <p14:cNvContentPartPr/>
              <p14:nvPr/>
            </p14:nvContentPartPr>
            <p14:xfrm>
              <a:off x="3694104" y="3172824"/>
              <a:ext cx="36612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329722A-A54C-7760-B3AC-565C688473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0104" y="3064824"/>
                <a:ext cx="473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1E455E6-75B1-A306-971F-2E7669C11911}"/>
                  </a:ext>
                </a:extLst>
              </p14:cNvPr>
              <p14:cNvContentPartPr/>
              <p14:nvPr/>
            </p14:nvContentPartPr>
            <p14:xfrm>
              <a:off x="-886896" y="978264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1E455E6-75B1-A306-971F-2E7669C119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940896" y="870264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9D2495A-0202-8A78-7990-C2AE8690DF1D}"/>
              </a:ext>
            </a:extLst>
          </p:cNvPr>
          <p:cNvSpPr txBox="1"/>
          <p:nvPr/>
        </p:nvSpPr>
        <p:spPr>
          <a:xfrm>
            <a:off x="6873741" y="851676"/>
            <a:ext cx="3889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58.7% of the change in happiness score explained by national values domains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8335BC-AB95-E285-F15A-1D6DB56DD220}"/>
              </a:ext>
            </a:extLst>
          </p:cNvPr>
          <p:cNvSpPr txBox="1"/>
          <p:nvPr/>
        </p:nvSpPr>
        <p:spPr>
          <a:xfrm>
            <a:off x="6873741" y="2532278"/>
            <a:ext cx="340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 indicator item present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23884A-5267-652E-3CDB-3D47FAF1AAC0}"/>
                  </a:ext>
                </a:extLst>
              </p14:cNvPr>
              <p14:cNvContentPartPr/>
              <p14:nvPr/>
            </p14:nvContentPartPr>
            <p14:xfrm>
              <a:off x="3757824" y="3839904"/>
              <a:ext cx="394920" cy="38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23884A-5267-652E-3CDB-3D47FAF1AA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04184" y="3731904"/>
                <a:ext cx="5025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5A01D1F-71D9-FC91-8FFE-1204186CA6B1}"/>
                  </a:ext>
                </a:extLst>
              </p14:cNvPr>
              <p14:cNvContentPartPr/>
              <p14:nvPr/>
            </p14:nvContentPartPr>
            <p14:xfrm>
              <a:off x="13094064" y="3875184"/>
              <a:ext cx="4320" cy="11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5A01D1F-71D9-FC91-8FFE-1204186CA6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040064" y="3767544"/>
                <a:ext cx="111960" cy="2268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7748CC4-3D3C-AD9C-C682-929A3AC734CD}"/>
              </a:ext>
            </a:extLst>
          </p:cNvPr>
          <p:cNvSpPr txBox="1"/>
          <p:nvPr/>
        </p:nvSpPr>
        <p:spPr>
          <a:xfrm>
            <a:off x="172908" y="5172841"/>
            <a:ext cx="110916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Findings:  Independence Values domain positive indicator in happiness score.  </a:t>
            </a:r>
          </a:p>
          <a:p>
            <a:endParaRPr lang="en-US" dirty="0"/>
          </a:p>
          <a:p>
            <a:r>
              <a:rPr lang="en-US" dirty="0"/>
              <a:t>Limitation:  Sample size</a:t>
            </a:r>
          </a:p>
          <a:p>
            <a:endParaRPr lang="en-US" dirty="0"/>
          </a:p>
          <a:p>
            <a:r>
              <a:rPr lang="en-US" dirty="0"/>
              <a:t>Further Analyses:  Replication with larger sample size;  Explore individual minor domains affect on happiness score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F5543F-3C02-DB7A-2DF2-344F9B94A0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02" y="546009"/>
            <a:ext cx="5925522" cy="404679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5009E8-B9DA-ED8E-D3DE-4D0D4D64CD45}"/>
              </a:ext>
            </a:extLst>
          </p:cNvPr>
          <p:cNvCxnSpPr>
            <a:cxnSpLocks/>
          </p:cNvCxnSpPr>
          <p:nvPr/>
        </p:nvCxnSpPr>
        <p:spPr>
          <a:xfrm>
            <a:off x="6042910" y="1174842"/>
            <a:ext cx="777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484215-0BBE-5401-F465-50B07F5E8C02}"/>
              </a:ext>
            </a:extLst>
          </p:cNvPr>
          <p:cNvCxnSpPr>
            <a:cxnSpLocks/>
          </p:cNvCxnSpPr>
          <p:nvPr/>
        </p:nvCxnSpPr>
        <p:spPr>
          <a:xfrm flipV="1">
            <a:off x="4319298" y="2716944"/>
            <a:ext cx="2463003" cy="1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91BCB1-F3DB-91B7-A839-73D83E5FCA55}"/>
              </a:ext>
            </a:extLst>
          </p:cNvPr>
          <p:cNvCxnSpPr>
            <a:cxnSpLocks/>
          </p:cNvCxnSpPr>
          <p:nvPr/>
        </p:nvCxnSpPr>
        <p:spPr>
          <a:xfrm>
            <a:off x="6004560" y="4319804"/>
            <a:ext cx="777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9851AE-9A54-7119-B6FA-8B2E91E823A2}"/>
              </a:ext>
            </a:extLst>
          </p:cNvPr>
          <p:cNvSpPr txBox="1"/>
          <p:nvPr/>
        </p:nvSpPr>
        <p:spPr>
          <a:xfrm>
            <a:off x="6873741" y="3994833"/>
            <a:ext cx="3889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condition number suggesting minimal relationship among items</a:t>
            </a:r>
          </a:p>
        </p:txBody>
      </p:sp>
    </p:spTree>
    <p:extLst>
      <p:ext uri="{BB962C8B-B14F-4D97-AF65-F5344CB8AC3E}">
        <p14:creationId xmlns:p14="http://schemas.microsoft.com/office/powerpoint/2010/main" val="238760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EE0CA1-D3EE-4024-8924-687FF7C9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light bulbs with words&#10;&#10;AI-generated content may be incorrect.">
            <a:extLst>
              <a:ext uri="{FF2B5EF4-FFF2-40B4-BE49-F238E27FC236}">
                <a16:creationId xmlns:a16="http://schemas.microsoft.com/office/drawing/2014/main" id="{210D485C-54E4-9E5C-331F-E587EC824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" b="5896"/>
          <a:stretch/>
        </p:blipFill>
        <p:spPr>
          <a:xfrm>
            <a:off x="3779520" y="449580"/>
            <a:ext cx="4632960" cy="260604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99740A-1C65-96A7-2357-99E1C0203692}"/>
              </a:ext>
            </a:extLst>
          </p:cNvPr>
          <p:cNvSpPr txBox="1"/>
          <p:nvPr/>
        </p:nvSpPr>
        <p:spPr>
          <a:xfrm>
            <a:off x="1036320" y="3557290"/>
            <a:ext cx="43738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Greatest Challenges: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Visualizations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Sample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C4F9A-933C-893C-F26F-BEA4990A6B7F}"/>
              </a:ext>
            </a:extLst>
          </p:cNvPr>
          <p:cNvSpPr txBox="1"/>
          <p:nvPr/>
        </p:nvSpPr>
        <p:spPr>
          <a:xfrm>
            <a:off x="6096000" y="3557290"/>
            <a:ext cx="50596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 learned about myself: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Imposter Syndrome is Real!!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Confidence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Growth</a:t>
            </a:r>
          </a:p>
        </p:txBody>
      </p:sp>
    </p:spTree>
    <p:extLst>
      <p:ext uri="{BB962C8B-B14F-4D97-AF65-F5344CB8AC3E}">
        <p14:creationId xmlns:p14="http://schemas.microsoft.com/office/powerpoint/2010/main" val="116452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00" y="534987"/>
            <a:ext cx="5179330" cy="877189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en-US" dirty="0"/>
              <a:t>Thank you!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7" y="2241388"/>
            <a:ext cx="5781230" cy="3546764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Jeanne Spaulding</a:t>
            </a:r>
          </a:p>
          <a:p>
            <a:r>
              <a:rPr lang="en-US" sz="2400" dirty="0"/>
              <a:t>859-250-0298</a:t>
            </a:r>
          </a:p>
          <a:p>
            <a:r>
              <a:rPr lang="en-US" sz="2600" dirty="0">
                <a:hlinkClick r:id="rId3"/>
              </a:rPr>
              <a:t>spauldingj2@outlook.com</a:t>
            </a:r>
            <a:endParaRPr lang="en-US" sz="2600" dirty="0"/>
          </a:p>
          <a:p>
            <a:r>
              <a:rPr lang="en-US" sz="1900" dirty="0">
                <a:hlinkClick r:id="rId4"/>
              </a:rPr>
              <a:t>https://www.linkedin.com/in/jeanne-r-spaulding-mais</a:t>
            </a:r>
            <a:endParaRPr lang="en-US" sz="1900" dirty="0"/>
          </a:p>
          <a:p>
            <a:r>
              <a:rPr lang="en-US" sz="1900" dirty="0">
                <a:hlinkClick r:id="rId5"/>
              </a:rPr>
              <a:t>https://github.com/spauldingj2/NationalValues_Happiness</a:t>
            </a:r>
            <a:endParaRPr lang="en-US" sz="1900" dirty="0"/>
          </a:p>
          <a:p>
            <a:endParaRPr lang="en-US" dirty="0"/>
          </a:p>
        </p:txBody>
      </p:sp>
      <p:pic>
        <p:nvPicPr>
          <p:cNvPr id="7" name="Picture Placeholder 6" descr="A bubble with text on it&#10;&#10;AI-generated content may be incorrect.">
            <a:extLst>
              <a:ext uri="{FF2B5EF4-FFF2-40B4-BE49-F238E27FC236}">
                <a16:creationId xmlns:a16="http://schemas.microsoft.com/office/drawing/2014/main" id="{B822A020-8A15-3C4A-0F68-014A1A64BC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4" r="13364"/>
          <a:stretch>
            <a:fillRect/>
          </a:stretch>
        </p:blipFill>
        <p:spPr>
          <a:xfrm>
            <a:off x="6390125" y="534987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{45438F3A-5B25-4233-8525-DA611630F0E4}tf33713516_win32</Template>
  <TotalTime>1754</TotalTime>
  <Words>534</Words>
  <Application>Microsoft Office PowerPoint</Application>
  <PresentationFormat>Widescreen</PresentationFormat>
  <Paragraphs>88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Gill Sans MT</vt:lpstr>
      <vt:lpstr>Symbol</vt:lpstr>
      <vt:lpstr>Walbaum Display</vt:lpstr>
      <vt:lpstr>Wingdings</vt:lpstr>
      <vt:lpstr>3DFloatVTI</vt:lpstr>
      <vt:lpstr>National Values  and  Happiness:  A Regression Analysis</vt:lpstr>
      <vt:lpstr>Brief Introduction   Why Code:You?   National Values and Happiness Project Overview   Final Thoughts  </vt:lpstr>
      <vt:lpstr>PowerPoint Presentation</vt:lpstr>
      <vt:lpstr>PowerPoint Presentation</vt:lpstr>
      <vt:lpstr>PowerPoint Presentation</vt:lpstr>
      <vt:lpstr>PowerPoint Presentation</vt:lpstr>
      <vt:lpstr>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Spaulding, Jeanne (She/Her/Hers)</dc:creator>
  <cp:lastModifiedBy>Jeanne Spaulding</cp:lastModifiedBy>
  <cp:revision>36</cp:revision>
  <dcterms:created xsi:type="dcterms:W3CDTF">2025-04-17T15:22:01Z</dcterms:created>
  <dcterms:modified xsi:type="dcterms:W3CDTF">2025-11-06T00:30:32Z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